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bf8663de8f43b1" /><Relationship Type="http://schemas.openxmlformats.org/officeDocument/2006/relationships/extended-properties" Target="/docProps/app.xml" Id="R9d1d5fc6a5bd46f4" /><Relationship Type="http://schemas.openxmlformats.org/officeDocument/2006/relationships/officeDocument" Target="/ppt/presentation.xml" Id="R8742fde9dc9f43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73ff48fda54903"/>
  </p:sldMasterIdLst>
  <p:notesMasterIdLst>
    <p:notesMasterId xmlns:r="http://schemas.openxmlformats.org/officeDocument/2006/relationships" r:id="Rdc76d20fd89241b7"/>
  </p:notesMasterIdLst>
  <p:sldIdLst>
    <p:sldId xmlns:r="http://schemas.openxmlformats.org/officeDocument/2006/relationships" id="256" r:id="R096b6e771f9642c8"/>
    <p:sldId xmlns:r="http://schemas.openxmlformats.org/officeDocument/2006/relationships" id="257" r:id="R16905d58302b4458"/>
    <p:sldId xmlns:r="http://schemas.openxmlformats.org/officeDocument/2006/relationships" id="258" r:id="R3efc120144284809"/>
    <p:sldId xmlns:r="http://schemas.openxmlformats.org/officeDocument/2006/relationships" id="259" r:id="R0f8b93ea2024449b"/>
    <p:sldId xmlns:r="http://schemas.openxmlformats.org/officeDocument/2006/relationships" id="260" r:id="R32aa094cbbdd494b"/>
    <p:sldId xmlns:r="http://schemas.openxmlformats.org/officeDocument/2006/relationships" id="261" r:id="Rb1a755405e274196"/>
    <p:sldId xmlns:r="http://schemas.openxmlformats.org/officeDocument/2006/relationships" id="262" r:id="R9ec3f99f1bde4d3d"/>
    <p:sldId xmlns:r="http://schemas.openxmlformats.org/officeDocument/2006/relationships" id="263" r:id="Rdd3a4555544d4e61"/>
    <p:sldId xmlns:r="http://schemas.openxmlformats.org/officeDocument/2006/relationships" id="264" r:id="Rfeb9aa0368454242"/>
    <p:sldId xmlns:r="http://schemas.openxmlformats.org/officeDocument/2006/relationships" id="265" r:id="Rd61a4d26d2394b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dcbed10a364a11" /><Relationship Type="http://schemas.openxmlformats.org/officeDocument/2006/relationships/slideMaster" Target="/ppt/slideMasters/slideMaster1.xml" Id="R0e73ff48fda54903" /><Relationship Type="http://schemas.openxmlformats.org/officeDocument/2006/relationships/notesMaster" Target="/ppt/notesMasters/notesMaster1.xml" Id="Rdc76d20fd89241b7" /><Relationship Type="http://schemas.openxmlformats.org/officeDocument/2006/relationships/presProps" Target="/ppt/presProps.xml" Id="R9282f57fea2a4a28" /><Relationship Type="http://schemas.openxmlformats.org/officeDocument/2006/relationships/tableStyles" Target="/ppt/tableStyles.xml" Id="R25ed736d123e4b48" /><Relationship Type="http://schemas.openxmlformats.org/officeDocument/2006/relationships/slide" Target="/ppt/slides/slide1.xml" Id="R096b6e771f9642c8" /><Relationship Type="http://schemas.openxmlformats.org/officeDocument/2006/relationships/slide" Target="/ppt/slides/slide2.xml" Id="R16905d58302b4458" /><Relationship Type="http://schemas.openxmlformats.org/officeDocument/2006/relationships/slide" Target="/ppt/slides/slide3.xml" Id="R3efc120144284809" /><Relationship Type="http://schemas.openxmlformats.org/officeDocument/2006/relationships/slide" Target="/ppt/slides/slide4.xml" Id="R0f8b93ea2024449b" /><Relationship Type="http://schemas.openxmlformats.org/officeDocument/2006/relationships/slide" Target="/ppt/slides/slide5.xml" Id="R32aa094cbbdd494b" /><Relationship Type="http://schemas.openxmlformats.org/officeDocument/2006/relationships/slide" Target="/ppt/slides/slide6.xml" Id="Rb1a755405e274196" /><Relationship Type="http://schemas.openxmlformats.org/officeDocument/2006/relationships/slide" Target="/ppt/slides/slide7.xml" Id="R9ec3f99f1bde4d3d" /><Relationship Type="http://schemas.openxmlformats.org/officeDocument/2006/relationships/slide" Target="/ppt/slides/slide8.xml" Id="Rdd3a4555544d4e61" /><Relationship Type="http://schemas.openxmlformats.org/officeDocument/2006/relationships/slide" Target="/ppt/slides/slide9.xml" Id="Rfeb9aa0368454242" /><Relationship Type="http://schemas.openxmlformats.org/officeDocument/2006/relationships/slide" Target="/ppt/slides/slide10.xml" Id="Rd61a4d26d2394b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f8e30c9df24a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126d22a699488f" /><Relationship Type="http://schemas.openxmlformats.org/officeDocument/2006/relationships/notesMaster" Target="/ppt/notesMasters/notesMaster1.xml" Id="R52300edae0b44c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6008b18bc043d7" /><Relationship Type="http://schemas.openxmlformats.org/officeDocument/2006/relationships/notesMaster" Target="/ppt/notesMasters/notesMaster1.xml" Id="Rb402be59b06c46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7a59b9619c4072" /><Relationship Type="http://schemas.openxmlformats.org/officeDocument/2006/relationships/notesMaster" Target="/ppt/notesMasters/notesMaster1.xml" Id="Rc117a257769b46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90d52e49f24ae0" /><Relationship Type="http://schemas.openxmlformats.org/officeDocument/2006/relationships/notesMaster" Target="/ppt/notesMasters/notesMaster1.xml" Id="Rc27e022af64547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9656e7ecf941ec" /><Relationship Type="http://schemas.openxmlformats.org/officeDocument/2006/relationships/notesMaster" Target="/ppt/notesMasters/notesMaster1.xml" Id="R937c3199ab664a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683e98e1694675" /><Relationship Type="http://schemas.openxmlformats.org/officeDocument/2006/relationships/notesMaster" Target="/ppt/notesMasters/notesMaster1.xml" Id="R4099782647374f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49a4755b4142a2" /><Relationship Type="http://schemas.openxmlformats.org/officeDocument/2006/relationships/notesMaster" Target="/ppt/notesMasters/notesMaster1.xml" Id="R3e74e67e8c394a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03367fe6a549f9" /><Relationship Type="http://schemas.openxmlformats.org/officeDocument/2006/relationships/notesMaster" Target="/ppt/notesMasters/notesMaster1.xml" Id="Rb035b35afdd749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c361765b2647c3" /><Relationship Type="http://schemas.openxmlformats.org/officeDocument/2006/relationships/notesMaster" Target="/ppt/notesMasters/notesMaster1.xml" Id="R601c13e40b3542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8dea27165e434a" /><Relationship Type="http://schemas.openxmlformats.org/officeDocument/2006/relationships/notesMaster" Target="/ppt/notesMasters/notesMaster1.xml" Id="R9bf4f254eddd48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b796c4ae04c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128204c1574ef8" /><Relationship Type="http://schemas.openxmlformats.org/officeDocument/2006/relationships/slideLayout" Target="/ppt/slideLayouts/slideLayout1.xml" Id="Rec34f908c34f4d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34f908c34f4d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ee3049dea42f9" /><Relationship Type="http://schemas.openxmlformats.org/officeDocument/2006/relationships/notesSlide" Target="/ppt/notesSlides/notesSlide1.xml" Id="R98ea169a50ba48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09957bf1f4da5" /><Relationship Type="http://schemas.openxmlformats.org/officeDocument/2006/relationships/notesSlide" Target="/ppt/notesSlides/notesSlide2.xml" Id="R5b8f0b2c8ba845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a8214257242c1" /><Relationship Type="http://schemas.openxmlformats.org/officeDocument/2006/relationships/notesSlide" Target="/ppt/notesSlides/notesSlide3.xml" Id="R5a3cb5e23f764a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1f562114847ac" /><Relationship Type="http://schemas.openxmlformats.org/officeDocument/2006/relationships/notesSlide" Target="/ppt/notesSlides/notesSlide4.xml" Id="R3508fd8b3ba14b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e01029f9547ce" /><Relationship Type="http://schemas.openxmlformats.org/officeDocument/2006/relationships/notesSlide" Target="/ppt/notesSlides/notesSlide5.xml" Id="R6d8c59e3515f45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16160b73f4444" /><Relationship Type="http://schemas.openxmlformats.org/officeDocument/2006/relationships/notesSlide" Target="/ppt/notesSlides/notesSlide6.xml" Id="Rbf596bb523c34a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c1917d6e74bc7" /><Relationship Type="http://schemas.openxmlformats.org/officeDocument/2006/relationships/notesSlide" Target="/ppt/notesSlides/notesSlide7.xml" Id="R8c061f34780442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4a822d61448ed" /><Relationship Type="http://schemas.openxmlformats.org/officeDocument/2006/relationships/notesSlide" Target="/ppt/notesSlides/notesSlide8.xml" Id="Rf21a09d713fd4c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196b3807d4432" /><Relationship Type="http://schemas.openxmlformats.org/officeDocument/2006/relationships/notesSlide" Target="/ppt/notesSlides/notesSlide9.xml" Id="Rc18dd93b07634c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08ebdcd7945a9" /><Relationship Type="http://schemas.openxmlformats.org/officeDocument/2006/relationships/notesSlide" Target="/ppt/notesSlides/notesSlide10.xml" Id="R0c8b7d7635b946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52013B-ADEB-4787-8853-12D9DC21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953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F172A"/>
                </a:solidFill>
              </a:defRPr>
            </a:pPr>
            <a:r>
              <a:rPr sz="4050" b="1">
                <a:solidFill>
                  <a:srgbClr val="0F172A"/>
                </a:solidFill>
              </a:rPr>
              <a:t>External Validation of New Antithrombotic Peptides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D3F2D-163D-4E96-BED6-BD852F58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Cleaned S3/S5 validation, four new peptides, 60/20/20 splits, 10 seeds, and confidence intervals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C7C48-C8E8-4A79-B3C9-31ADBE9D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23241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B1252-1C41-439B-8A1F-99AC30E0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48026-7E34-4F2B-8C89-6FCAB204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candidate external peptides reviewed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19A62-6496-4C93-89FC-C8E38C5D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95700"/>
            <a:ext cx="23241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EB935-DB2A-4A86-893E-9D0C6B27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862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766E"/>
                </a:solidFill>
              </a:defRPr>
            </a:pPr>
            <a:r>
              <a:rPr sz="3150" b="1">
                <a:solidFill>
                  <a:srgbClr val="0F766E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56E0F-9214-47A5-8629-ECD6F5CE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19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clean peptides retained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F2047-4AB6-47BA-8232-E319F87D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95700"/>
            <a:ext cx="23241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90E68-46FE-4024-BC83-F77500CD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862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C3AED"/>
                </a:solidFill>
              </a:defRPr>
            </a:pPr>
            <a:r>
              <a:rPr sz="3150" b="1">
                <a:solidFill>
                  <a:srgbClr val="7C3AED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B5E1E-5096-46FE-9B0D-F442FADE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19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new peptides included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60929-1A83-4669-8F3B-69130394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95700"/>
            <a:ext cx="23241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746DA-361A-4D0F-802D-7C20C357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862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97706"/>
                </a:solidFill>
              </a:defRPr>
            </a:pPr>
            <a:r>
              <a:rPr sz="3150" b="1">
                <a:solidFill>
                  <a:srgbClr val="D97706"/>
                </a:solidFill>
              </a:rPr>
              <a:t>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A288D-B350-4F68-B8E3-6012C517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19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seeds per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2EE7B-9C6F-481F-BB96-C0BC98B5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Results source: external_validation_no_overlap/</a:t>
            </a:r>
          </a:p>
        </p:txBody>
      </p:sp>
    </p:spTree>
    <p:extLst>
      <p:ext uri="{BB962C8B-B14F-4D97-AF65-F5344CB8AC3E}">
        <p14:creationId xmlns:p14="http://schemas.microsoft.com/office/powerpoint/2010/main" val="18354695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2B3F4D-9354-45B4-9965-1A9CC1D4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The validation set had to be cleaned before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8600C-7393-4631-95BD-5509B0F3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original S3/S5 list included exact training duplicates and near-duplicates that would inflate external validation.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8CE8A-C636-43EF-A03C-69FFDCF6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77C12-8907-441A-A9AB-AD191BA8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327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B9CA4-645E-4997-903E-F6132E42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327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D6D20-625B-4105-BDC5-AD3A9D34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27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BBE32-8AF0-4EEE-9FD0-8C148C1D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C2626"/>
                </a:solidFill>
              </a:defRPr>
            </a:pPr>
            <a:r>
              <a:rPr sz="1950" b="1">
                <a:solidFill>
                  <a:srgbClr val="DC2626"/>
                </a:solidFill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37A24-999C-424E-BDA6-1855A175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E1F9E-A5E0-4A60-A7B2-416162CD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14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S3/S5 included training-overlap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34BAB-2445-4053-BFD7-312EF131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7B4CE-7EFB-49D1-853E-77B01F4E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Three peptides were exact training matches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04E5E-8E34-446B-B4A8-54162089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ECFF1-7FD8-46D2-AA41-1712058D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Lepirudin was a near-duplicate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4EC5B-F6AE-4EB0-97C2-7B6C6ED6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81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Cleaning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5761F-58AE-4BC7-B95C-9D7F413A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90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AE8DF-8D35-4070-8292-66DB3DEE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1460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Remove exact training matches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2E8AD-E37D-4634-8CBF-E1D04AA7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48ECFC-7591-4289-A857-1C1D4B38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6705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Remove overlaps &gt;= 98.45%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850AD-CC30-4DFE-91A1-2BF16214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95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2FF6A-CC55-431C-A27E-A93A42E8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1950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Collapse contained external peptides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CCE4C-04DD-4D17-912D-4847E813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48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8BEA11-34AA-4AB1-8A05-A8B69F37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7195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Ignore overlaps shorter than 8 aa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8152F-F51E-4126-AB59-B894171D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812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After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24163C-503D-4DD7-85D3-D5D2ADC9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90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A9873D-6E70-41DF-BCB6-C7347A42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14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11 external positives remained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EB2FD8-048B-4FD3-B104-33CD4293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00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AFEAA0-4DC1-423D-8ED5-62B3725D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24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All four new peptides stayed in the final set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9671F9-AB69-4228-9282-F2B218E2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03BF9F-0A97-46D9-9619-FADFA1B8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33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Validation became stricter and easier to defend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6520A5-30FF-4435-9620-643FCC14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New peptide validation | 2</a:t>
            </a:r>
          </a:p>
        </p:txBody>
      </p:sp>
    </p:spTree>
    <p:extLst>
      <p:ext uri="{BB962C8B-B14F-4D97-AF65-F5344CB8AC3E}">
        <p14:creationId xmlns:p14="http://schemas.microsoft.com/office/powerpoint/2010/main" val="351914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6D6249-9CB5-43AF-A598-DA1D21CF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The final external set retained the novel peptides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83271-56F6-46A0-90B9-6334D979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manifest records every kept or removed peptide and the reason for the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CAB7C-AC2D-4F47-AEAB-1F7A1D09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8992E-EC27-4A38-B0C7-82E4BD66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3241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1A089-920C-439F-A108-E241FFC7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766E"/>
                </a:solidFill>
              </a:defRPr>
            </a:pPr>
            <a:r>
              <a:rPr sz="3150" b="1">
                <a:solidFill>
                  <a:srgbClr val="0F766E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3941D-C304-4FF5-83F4-BEAB9254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kept from S3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F9701-6DEB-44FD-9045-3D2C19B1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57350"/>
            <a:ext cx="23241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4CDE5-3A99-4672-8117-C2E62C42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478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C2626"/>
                </a:solidFill>
              </a:defRPr>
            </a:pPr>
            <a:r>
              <a:rPr sz="3150" b="1">
                <a:solidFill>
                  <a:srgbClr val="DC2626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B70FE-E2CC-46B3-8398-3586D23C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81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kept from S5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663D4-9AAE-45D7-84A8-5A044139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23241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D93F3-9A0A-44F8-856E-BDB08EC0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478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C3AED"/>
                </a:solidFill>
              </a:defRPr>
            </a:pPr>
            <a:r>
              <a:rPr sz="3150" b="1">
                <a:solidFill>
                  <a:srgbClr val="7C3AED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31437-F93C-4580-ABD5-5FDD743C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81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new peptides kept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14751-39DD-4BCC-8C98-C2250DB8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57350"/>
            <a:ext cx="23241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2B25B-93B5-4D97-A10D-E862184E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478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97706"/>
                </a:solidFill>
              </a:defRPr>
            </a:pPr>
            <a:r>
              <a:rPr sz="3150" b="1">
                <a:solidFill>
                  <a:srgbClr val="D97706"/>
                </a:solidFill>
              </a:rPr>
              <a:t>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D11B5-FD11-411E-8E37-F429CEE5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removed as duplicate or near-duplicate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AACB1-C0F2-4C1A-9F23-84E4D630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Kept new peptides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59A67-7CC4-411E-85BB-D75F92CD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43DD9-352F-4DE7-99DD-18FC2BBE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624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SPFRVVFVKP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B4ED6-C071-4524-89A2-2C41D8B6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8DAD0-D38A-4BFA-99B5-D17A28ED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624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GCSGKGARCAPSKCCSGLSCGRHGGNMYKSCEWNWKTG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ACB678-4661-45E4-8CD2-4BECFE4F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E10214-9ED0-431C-9BB0-94CF78D7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43450"/>
            <a:ext cx="624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ADCGGKTCSGGQVCSDGVCVCTKLRCRLLCRNGFLKDENGCEYPCTCA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DD8C15-A766-4107-ACE2-26018AC1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75C3C9-E792-4525-9132-C9A6E3EF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00650"/>
            <a:ext cx="624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VISRTQSNVQAAWGQVGGHAADYSAVAIER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AEDA6-820A-4217-B8E6-82D141EF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90900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EFCE8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CED4AF-EAD3-414F-92D0-78468719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2400E"/>
                </a:solidFill>
              </a:defRPr>
            </a:pPr>
            <a:r>
              <a:rPr sz="1725" b="1">
                <a:solidFill>
                  <a:srgbClr val="92400E"/>
                </a:solidFill>
              </a:rPr>
              <a:t>Interpretation boundary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40A084-3715-4494-A333-11D0D7B0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33850"/>
            <a:ext cx="2743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The final external set contains positives only, so external_positive_fraction is a positive-detection rate, not full accuracy.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9B9AEF-4594-4D87-A164-73006A90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New peptide validation | 3</a:t>
            </a:r>
          </a:p>
        </p:txBody>
      </p:sp>
    </p:spTree>
    <p:extLst>
      <p:ext uri="{BB962C8B-B14F-4D97-AF65-F5344CB8AC3E}">
        <p14:creationId xmlns:p14="http://schemas.microsoft.com/office/powerpoint/2010/main" val="593231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2851CD-C58B-4DE5-9F6E-DC4F0FF9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The validation design repeated the same test across features and seeds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D2125-9396-4657-9E19-4E5EE7F1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Each feature table was split 60/20/20 across 10 seeds and evaluated with the same model families.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34A30-907B-477C-A94C-DEA64237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035B2-A331-45BC-B39A-85FEBB44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102489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5E6A0-08D0-40CB-8EB4-2414DF84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19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32921-B4F6-45BA-A4CB-5F1FB118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573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813CE-410F-44DF-9CA4-5D7FD00C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Root feature tables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18A2B-973E-4926-A46F-842C0F55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pcp_aac, pcp_aac_ctd, pcp_aac_ctd_dpc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D1BF7-0798-4D9A-A405-26D9EC9F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2489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CF663-AB7D-4D0C-B57F-DFF57B72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0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2C446-39C1-44DD-99E5-9CAE3F6D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384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F9BFA-AD36-4E77-84AB-5196D1F2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90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Split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6FB4B-0123-43E1-BA92-029CBF93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90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60% train, 20% validation, 20%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A9AA0-4DFE-404E-83C7-DDE799F0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102489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1109D-7BD6-4CCF-8DD7-BBA70D58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81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82107-3EC4-4A11-A258-2821852C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194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98BDF-B6E9-4DD6-AE83-5DBA7E80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71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Models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892D7-13DA-41F0-BAEE-479A67A1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718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linear SVM, RBF SVM, logistic regression, random forest, KNN, XGBoost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4964B3-6063-43AF-B668-D3387E7F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02489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B543D-4478-46C0-A025-ECA73EA0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62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91EF5-BC44-4215-AC1E-7E5CD153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005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BE4CA-8C87-4264-A7AA-43351B99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5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External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BF8DE0-0611-4248-92EE-A391C535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529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Predict 11 cleaned positive peptides after model fitting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51BD62-7C7F-40B7-9BCB-50FF0455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102489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492959-37B3-4FDF-B64C-C64EC0EB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43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F86804-6D24-4A52-9BD8-44449783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81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3B3893-7758-4733-B558-98B4EF37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33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Summaries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F41C88-A8AD-47D6-9B19-00540ED2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33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Mean, standard deviation, and 95% confidence intervals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FA5101-4091-4000-9EDB-3BA4B912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New peptide validation | 4</a:t>
            </a:r>
          </a:p>
        </p:txBody>
      </p:sp>
    </p:spTree>
    <p:extLst>
      <p:ext uri="{BB962C8B-B14F-4D97-AF65-F5344CB8AC3E}">
        <p14:creationId xmlns:p14="http://schemas.microsoft.com/office/powerpoint/2010/main" val="3494472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E46568-83E1-4DC0-A9B8-1D97C5EE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The richest feature set produced the strongest internal test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83C24-6177-4750-9494-5EC9B5B7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Mean test MCC across 10 seeds favored AAC+CTD+DPC with RBF SVM.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4D390-51EE-4E33-8A1F-1994999D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C293B-B5D8-4823-B9F2-A9254C5B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pcp_aac_ctd_dpc + svm_rbf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C31BF-5ED3-4DBE-B90C-B091AE19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4307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FFBBD-CF16-4048-A822-B5FD17EA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43075"/>
            <a:ext cx="386365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A7B72-02BF-4E6C-835C-4CB795B2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859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0.849 ± 0.040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7E2BC-D08E-4AD9-8D67-9FA6C3E9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pcp_aac_ctd + svm_rbf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ECEA2-E819-439D-8D9E-B22160DF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79C4E-4764-426D-B88B-642517AF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376809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501B8-0517-4B82-ACD0-A175DC54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764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0.828 ± 0.031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18083-EC46-4E87-B836-CA19BF43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pcp_aac_ctd_dpc + logistic_regression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D7206-47B5-4DBE-9AED-0F7E00E6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2417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BD439-4B38-4653-A854-3E19DC3A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24175"/>
            <a:ext cx="367707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01594-F6B8-4383-920B-250BB3E1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670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0.808 ± 0.030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96848-DC66-438D-B506-BAE73171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pcp_aac_ctd_dpc + svm_linear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3A092-B3E9-4B87-9ABE-014BCFA6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1472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095526-1B9A-4C29-877A-56673568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14725"/>
            <a:ext cx="364066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A3C547-C3E2-4B78-BA6F-334E49E4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575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0.800 ± 0.036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E8A067-388E-4CA7-A389-D58CE754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pcp_aac_ctd_dpc + xgboost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B7466F-FE7B-41A6-A3CE-C8440B75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0527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EF70A1-C00A-484F-BB27-23693101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05275"/>
            <a:ext cx="357240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C82B7E-1055-4B94-ACE4-0786518A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48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0.785 ± 0.049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856170-1EDD-49BE-B988-E3E9EB4D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pcp_aac + svm_rbf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98A72-B0A8-413B-996A-F9F0E3BA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9582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CEF20-60CD-4728-8881-54F647B5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95825"/>
            <a:ext cx="348138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0553E5-2C01-4850-B920-96FE6A3C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38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0.765 ± 0.042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62491C-B16C-447C-966B-0DEC773A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66900"/>
            <a:ext cx="2095500" cy="22669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FB5EFA-37EC-456B-A158-02895144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5F46"/>
                </a:solidFill>
              </a:defRPr>
            </a:pPr>
            <a:r>
              <a:rPr sz="1800" b="1">
                <a:solidFill>
                  <a:srgbClr val="065F46"/>
                </a:solidFill>
              </a:rPr>
              <a:t>Key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51A2EB-415F-4142-B939-5580CEA3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90800"/>
            <a:ext cx="15049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AAC+CTD+DPC captures the most useful internal signal. KNN is not the strongest internal model despite its external sensitivity.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9C4AA9-395C-4FA7-8406-7DAE5F6C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New peptide validation | 5</a:t>
            </a:r>
          </a:p>
        </p:txBody>
      </p:sp>
    </p:spTree>
    <p:extLst>
      <p:ext uri="{BB962C8B-B14F-4D97-AF65-F5344CB8AC3E}">
        <p14:creationId xmlns:p14="http://schemas.microsoft.com/office/powerpoint/2010/main" val="20353358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45E86E-D31B-49F0-85B9-75B74055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External positive detection also improved with richer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FC58E-5D09-4153-B041-039F0866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external set contains positives only, so higher values mean more external positives were called positive.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1F748-14CA-4FC5-823E-79F32E70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73167-39F3-4145-96E5-B2BA5AEE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pcp_aac_ctd_dpc + knn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8A385-8420-4748-9EC5-099B3AB7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4307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61D59-728F-4B0A-8B9A-0706F45F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43075"/>
            <a:ext cx="390594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123E1-7E96-45DA-9091-75E6C8B7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859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78% ± 0.029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22847-1896-4E23-9A50-81BCE28D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pcp_aac_ctd_dpc + logistic_regression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F41FB-FC79-4682-B1F1-835727F3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1EB23-CB96-4633-9253-73708F92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358627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5F073-3A66-42F2-920A-68F2AC66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764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72% ± 0.018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C7862-012F-433F-BD6D-1D0FBE88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pcp_aac_ctd_dpc + svm_rbf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8F283-B800-4494-9F7A-F886906B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2417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BC5F3-B848-4872-A19B-CEB4AB9F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24175"/>
            <a:ext cx="35413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A85C4-C580-4A72-BAA6-19EB4BDF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670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71% ± 0.024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395A2-D548-4DB7-B171-558A9450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pcp_aac_ctd_dpc + svm_linear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03CC1-7E44-4243-9F66-BDBA2B1B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1472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72AA9-C4F3-4AB7-B6DB-8F6AB0F7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14725"/>
            <a:ext cx="35413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B6F65-D1BA-4111-9996-45633D98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575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71% ± 0.024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77293-B817-4FE1-92B5-F6D8A582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pcp_aac + knn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C3F18-3FF4-41E0-988C-38A33AF8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0527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270D8-DEEC-4832-B16A-A2B65511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05275"/>
            <a:ext cx="349637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E5F83-7E06-4217-96E3-7A760530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48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70% ± 0.038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6ADB38-F90E-45C1-B0F6-7F96D6FF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pcp_aac_ctd + knn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4A4F0B-6718-46D6-B1AF-F15206F9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9582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555913-89D4-40DD-A8FA-28E8F849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95825"/>
            <a:ext cx="322165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14FF7C-B3B3-4F1E-B695-0C42D54D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38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65% ± 0.042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3AB023-B1F0-4F5D-9F19-232D0176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66900"/>
            <a:ext cx="2095500" cy="22669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D26050-EFCB-445F-9EB7-427DB3CD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2400E"/>
                </a:solidFill>
              </a:defRPr>
            </a:pPr>
            <a:r>
              <a:rPr sz="1800" b="1">
                <a:solidFill>
                  <a:srgbClr val="92400E"/>
                </a:solidFill>
              </a:rPr>
              <a:t>Caution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5B7BC2-99BB-426D-B966-7EC88733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90800"/>
            <a:ext cx="1504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KNN was most sensitive externally, but its lower internal MCC means it may be permissive.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9E62F4-ABCD-476A-86A1-B12F3762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New peptide validation | 6</a:t>
            </a:r>
          </a:p>
        </p:txBody>
      </p:sp>
    </p:spTree>
    <p:extLst>
      <p:ext uri="{BB962C8B-B14F-4D97-AF65-F5344CB8AC3E}">
        <p14:creationId xmlns:p14="http://schemas.microsoft.com/office/powerpoint/2010/main" val="15986118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2E6442-5496-4E86-9EB7-D729FF21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The S3-like peptides were recognized much more consistently than the new peptides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65DFE-803E-41A6-A0D1-9E46B2F8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models learned motifs that resemble S3 thrombin-inhibitor-like sequences.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F4852-133A-416E-B4CB-2BD0F385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055A6-310B-4413-846A-270F69F0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S3 peptides, pcp_aac_ctd_dpc + logistic regression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1C19A-EEA2-4E21-A4BF-D9D17101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0497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3A43A-AB17-41D6-B33B-2BE5B97E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0497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4E9FC-2768-40AC-A456-00E82B7C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47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100%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503DD-1202-466C-A5DB-58BBD5D7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S3 peptides, pcp_aac_ctd_dpc + svm_rbf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8BA25-1AF6-4036-9ED4-6333601F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1457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D3A47-3A6F-4888-A16C-9532104F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14575"/>
            <a:ext cx="397697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324D4-D20F-4D96-B01C-2A76BC79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574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97%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56C18-8D09-41E7-BA40-A5776297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S3 peptides, pcp_aac_ctd + logistic regression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D8615-BEE2-4740-AA47-E316294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2417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EA993-B828-4617-A993-BB398E0D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24175"/>
            <a:ext cx="374351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129B4-016D-4263-95E8-00409EEA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670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91%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40730-E3A7-469C-91D8-94EF82C0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New peptides, pcp_aac_ctd_dpc + knn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83C66-F316-4DD5-9AFE-D34BD75A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3377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A8464-553C-4824-ADEF-5E8852D2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3377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744C31-ED99-45D1-8F4B-D74DB68F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76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50%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E52D75-2FA4-4317-9997-C15C6414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New peptides, pcp_aac_ctd_dpc + svm_rbf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1A8C81-3C5E-4D6E-B3BC-71727DBE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4337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F36FC3-8201-4AC4-BAF5-31618FF7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43375"/>
            <a:ext cx="10239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D80DE5-819B-4808-9CA1-FAE84A18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862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25%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BCBA29-986A-40C3-898D-76089CE7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New peptides, pcp_aac_ctd + random forest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0BE1D-3351-40F2-9498-5F1BCB9B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5297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0035B9-2028-4994-B7A8-BC70B596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52975"/>
            <a:ext cx="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E8E5DE-1433-41E8-9C95-D71B53C7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95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8E97D2-EAFD-4DAC-9BE7-E3D0C9FD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15000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This split suggests the new peptides are partly outside the learned positive domain rather than simply weaker versions of S3.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49240A-82C5-4DCA-B71C-045175BC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New peptide validation | 7</a:t>
            </a:r>
          </a:p>
        </p:txBody>
      </p:sp>
    </p:spTree>
    <p:extLst>
      <p:ext uri="{BB962C8B-B14F-4D97-AF65-F5344CB8AC3E}">
        <p14:creationId xmlns:p14="http://schemas.microsoft.com/office/powerpoint/2010/main" val="15319546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5C1138-0CC9-4392-AF18-4EF1AC7E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Only one new peptide showed broad model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AEAE8-EB4A-4B97-BFFD-E9EE633B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Average positive-call rate across all dataset/model combinations separated the four new peptides sharply.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93B06-F4EB-481E-AF08-CC7D8230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AA3FE-4E63-4301-957E-464A7C12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new_adc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39856-B711-4266-8EC5-3460094B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022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F3AB0-B20B-4946-A73F-A2B1A714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0225"/>
            <a:ext cx="386638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FACD1-6747-445C-BA3E-D14ABE64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430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47%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B8115-0528-4DDD-B827-4452D2AD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193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ADCGGKTCSGGQVCSDGVCVCTKLRCRLLCRNGFLKDENGCEYPCTCA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4C886-B4A5-4C0F-BF23-AECA5550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new_gcs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1DB21-DD68-42A0-8A94-B63EA306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9557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E4986-74BB-4B65-A1AE-D0339FC5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95575"/>
            <a:ext cx="58978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B466E-DD13-4A67-9BAD-BB325007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384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35250-704E-44B4-A1BA-A1361171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GCSGKGARCAPSKCCSGLSCGRHGGNMYKSCEWNWKTG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A3355-3562-45DE-876D-F65E60A1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new_vis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689EE-2E72-4B51-9D3A-75258BE5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9092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9D194-7C6F-401F-A40F-B7CA59E5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90925"/>
            <a:ext cx="4914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C879B-CD10-4292-9B1C-2B1D3BE7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33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1%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453D2-E644-4122-8625-B97C6B47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VISRTQSNVQAAWGQVGGHAADYSAVAIER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ECBE9C-A576-4857-8649-14AD489B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new_spfrvvfvkp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71B8F4-4D2F-4AC3-93D5-4A284826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8627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42ADA4-CD04-4338-9D6A-5CB0B46C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86275"/>
            <a:ext cx="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90A8FA-F36C-4914-A088-879095AA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29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D76A76-362C-4D88-8B23-56EED572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053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SPFRVVFVKP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EE0667-701E-49D8-A345-B1711388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76400"/>
            <a:ext cx="27241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ACB807-46D7-4B8E-A18F-70469D59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62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40AF"/>
                </a:solidFill>
              </a:defRPr>
            </a:pPr>
            <a:r>
              <a:rPr sz="1875" b="1">
                <a:solidFill>
                  <a:srgbClr val="1E40AF"/>
                </a:solidFill>
              </a:rPr>
              <a:t>Most actionable candidate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4BE4F1-530D-4653-962B-926EE0AF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860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new_adc had the strongest model support and reached positive calls under several richer-feature models.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CB2CA1-178B-4B65-A25C-17B3EF5F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New peptide validation | 8</a:t>
            </a:r>
          </a:p>
        </p:txBody>
      </p:sp>
    </p:spTree>
    <p:extLst>
      <p:ext uri="{BB962C8B-B14F-4D97-AF65-F5344CB8AC3E}">
        <p14:creationId xmlns:p14="http://schemas.microsoft.com/office/powerpoint/2010/main" val="18399295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F07482-668A-4E45-A143-8DFD7AA9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The rerun reproduced the final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DF760-493A-431B-B8F9-7F4B3726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new run matched the final run, with only floating-point noise in a few probability files.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D855D-85B9-4C38-B50D-85EB74BE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12D3A-F056-4ED9-B069-6A2F550D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D0D80-B72A-4D7A-B96F-B8BE7438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57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Files that matched exactly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BD88C-8459-489F-AB59-E410DA6E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28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16F88-35AA-4F61-8B77-7102D394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combined_external_summary_ci.tsv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C33B2-097D-42E0-8D2E-D1247C8E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717B7-C6F0-4287-A391-4A320C8A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1465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combined_external_validation_manifest.tsv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1F9CB-4F88-482B-87B1-8CA1096E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52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44017-DCB6-4692-89B5-E27EBBED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766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combined_external_validation_set.tsv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FB748-F168-4AE2-99A5-91E6106F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134C7-4869-48FA-A764-CFC18FF2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3855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internal_metrics_by_seed.tsv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A1464-5C00-47C1-8F72-13ABD0C6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78CA2-3667-4B41-A83E-AEC1D53A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internal_metrics_summary_ci.tsv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A49B5-52A4-4703-ABF4-99E2D03B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526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2A6DC-2EF2-4904-8BB2-947B384F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574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Files with tiny numerical noise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C5EFC-CEB6-40A3-9CC9-20BFBCC0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28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50E44-D0C6-4B59-A7D6-AC5B309D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527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combined_external_predictions_by_seed.tsv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B8CCB-02F9-4C74-BD5F-C7F7543D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510A6-C2A3-400E-9A5D-9E76F2F6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718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combined_external_summary_by_seed.tsv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C9EFE5-04E1-4D2A-AA78-8CA6429E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67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76613A-D43D-42C4-B56F-CFF1B78B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909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combined_external_peptide_summary_ci.tsv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C0C9AF-7D24-4E1A-9599-0A7968B7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5888E6-BC00-49D6-AE0A-4C39515E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100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Maximum observed difference was about 1.1e-16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07C2A1-8920-4B5F-9A41-E75E2CC7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9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Use external_validation_no_overlap/ or external_validation_no_overlap_rerun/. Ignore the Test_notActualResults folder for conclusions.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3A5BC8-5989-4C36-BD32-B18EABEB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New peptide validation | 9</a:t>
            </a:r>
          </a:p>
        </p:txBody>
      </p:sp>
    </p:spTree>
    <p:extLst>
      <p:ext uri="{BB962C8B-B14F-4D97-AF65-F5344CB8AC3E}">
        <p14:creationId xmlns:p14="http://schemas.microsoft.com/office/powerpoint/2010/main" val="6096317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3EA45A-02D2-4734-9E88-17075543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Use the clean validation as evidence, not as the only decision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94681-661D-4C8B-B9ED-38068BF5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model result is strongest when paired with an applicability-domain check and experimental follow-up.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295FD-D738-48F3-8858-5299F058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8A14E-666D-4D19-9EDF-1989DED2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1B8C5-E408-4B42-B2F3-FA0E3660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65F46"/>
                </a:solidFill>
              </a:defRPr>
            </a:pPr>
            <a:r>
              <a:rPr sz="1950" b="1">
                <a:solidFill>
                  <a:srgbClr val="065F46"/>
                </a:solidFill>
              </a:rPr>
              <a:t>Use as lead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C3659-D981-4ED3-89DA-2A30666B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247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Prioritize new_adc as the strongest new model-supported candidate.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20FAB-E18C-43DB-9C1D-B256B0A8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5735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2F7F3-D76C-4826-A9C3-0F4FE97C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19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40AF"/>
                </a:solidFill>
              </a:defRPr>
            </a:pPr>
            <a:r>
              <a:rPr sz="1950" b="1">
                <a:solidFill>
                  <a:srgbClr val="1E40AF"/>
                </a:solidFill>
              </a:rPr>
              <a:t>Treat as out-of-domain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AD6AD-E46D-4774-A4D5-79040BE6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71750"/>
            <a:ext cx="2247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new_gcs, new_vis, and SPFRVVFVKP were mostly predicted negative and may not resemble the learned positive family.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FBFA9-42E0-489E-A86E-C3168D1C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5735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00985-BBB5-4D83-A305-95CCF048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19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A3412"/>
                </a:solidFill>
              </a:defRPr>
            </a:pPr>
            <a:r>
              <a:rPr sz="1950" b="1">
                <a:solidFill>
                  <a:srgbClr val="9A3412"/>
                </a:solidFill>
              </a:rPr>
              <a:t>Recommended 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D0FC8-008E-4855-9A7D-81CECC92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71750"/>
            <a:ext cx="2247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Add an applicability-domain output: distance to training positives, motif overlap, length, charge, cysteine count, and acidic residue content.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C1FEE-C2CE-447D-9BAF-439AF5A2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959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Bottom line: AAC+CTD+DPC with RBF SVM is the best overall model; KNN is sensitive externally but less reliable internally.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3B93AE-6445-44F6-8400-255E0C86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New peptide validation | 10</a:t>
            </a:r>
          </a:p>
        </p:txBody>
      </p:sp>
    </p:spTree>
    <p:extLst>
      <p:ext uri="{BB962C8B-B14F-4D97-AF65-F5344CB8AC3E}">
        <p14:creationId xmlns:p14="http://schemas.microsoft.com/office/powerpoint/2010/main" val="377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2026-07-02T00:33:47.4610000Z</dcterms:created>
  <dcterms:modified xsi:type="dcterms:W3CDTF">2026-07-02T00:33:47.4610000Z</dcterms:modified>
</coreProperties>
</file>