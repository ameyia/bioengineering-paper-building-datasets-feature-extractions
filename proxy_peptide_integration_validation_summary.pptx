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d16a49b2b44b6f" /><Relationship Type="http://schemas.openxmlformats.org/officeDocument/2006/relationships/extended-properties" Target="/docProps/app.xml" Id="Rc9b01a2c7dea4c4c" /><Relationship Type="http://schemas.openxmlformats.org/officeDocument/2006/relationships/officeDocument" Target="/ppt/presentation.xml" Id="R9323c1c57d5442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6a1243e9764463"/>
  </p:sldMasterIdLst>
  <p:notesMasterIdLst>
    <p:notesMasterId xmlns:r="http://schemas.openxmlformats.org/officeDocument/2006/relationships" r:id="R55818851e33444d7"/>
  </p:notesMasterIdLst>
  <p:sldIdLst>
    <p:sldId xmlns:r="http://schemas.openxmlformats.org/officeDocument/2006/relationships" id="256" r:id="R781e1e89c9004416"/>
    <p:sldId xmlns:r="http://schemas.openxmlformats.org/officeDocument/2006/relationships" id="257" r:id="R19ebfb7dcb244710"/>
    <p:sldId xmlns:r="http://schemas.openxmlformats.org/officeDocument/2006/relationships" id="258" r:id="R39474c3759574f92"/>
    <p:sldId xmlns:r="http://schemas.openxmlformats.org/officeDocument/2006/relationships" id="259" r:id="Rbcee2b11c75d47d9"/>
    <p:sldId xmlns:r="http://schemas.openxmlformats.org/officeDocument/2006/relationships" id="260" r:id="Rec5fbd238ff94210"/>
    <p:sldId xmlns:r="http://schemas.openxmlformats.org/officeDocument/2006/relationships" id="261" r:id="R570fe23f17d34996"/>
    <p:sldId xmlns:r="http://schemas.openxmlformats.org/officeDocument/2006/relationships" id="262" r:id="Raa51f90eaa72490f"/>
    <p:sldId xmlns:r="http://schemas.openxmlformats.org/officeDocument/2006/relationships" id="263" r:id="R6ef41aec1aed49a5"/>
    <p:sldId xmlns:r="http://schemas.openxmlformats.org/officeDocument/2006/relationships" id="264" r:id="Ref1ab11b28814706"/>
    <p:sldId xmlns:r="http://schemas.openxmlformats.org/officeDocument/2006/relationships" id="265" r:id="Rcef25b68f9204476"/>
    <p:sldId xmlns:r="http://schemas.openxmlformats.org/officeDocument/2006/relationships" id="266" r:id="Rb1424a7385ae4538"/>
    <p:sldId xmlns:r="http://schemas.openxmlformats.org/officeDocument/2006/relationships" id="267" r:id="R8531feb6efcc4d88"/>
    <p:sldId xmlns:r="http://schemas.openxmlformats.org/officeDocument/2006/relationships" id="268" r:id="Rd566260db11e4334"/>
    <p:sldId xmlns:r="http://schemas.openxmlformats.org/officeDocument/2006/relationships" id="269" r:id="R22f970e3e8cc430d"/>
    <p:sldId xmlns:r="http://schemas.openxmlformats.org/officeDocument/2006/relationships" id="270" r:id="R07b5d9d4cd0e44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24256a40a341d7" /><Relationship Type="http://schemas.openxmlformats.org/officeDocument/2006/relationships/slideMaster" Target="/ppt/slideMasters/slideMaster1.xml" Id="R636a1243e9764463" /><Relationship Type="http://schemas.openxmlformats.org/officeDocument/2006/relationships/notesMaster" Target="/ppt/notesMasters/notesMaster1.xml" Id="R55818851e33444d7" /><Relationship Type="http://schemas.openxmlformats.org/officeDocument/2006/relationships/presProps" Target="/ppt/presProps.xml" Id="R0e09086b989c4fd2" /><Relationship Type="http://schemas.openxmlformats.org/officeDocument/2006/relationships/tableStyles" Target="/ppt/tableStyles.xml" Id="R22a75ce259d34c2a" /><Relationship Type="http://schemas.openxmlformats.org/officeDocument/2006/relationships/slide" Target="/ppt/slides/slide1.xml" Id="R781e1e89c9004416" /><Relationship Type="http://schemas.openxmlformats.org/officeDocument/2006/relationships/slide" Target="/ppt/slides/slide2.xml" Id="R19ebfb7dcb244710" /><Relationship Type="http://schemas.openxmlformats.org/officeDocument/2006/relationships/slide" Target="/ppt/slides/slide3.xml" Id="R39474c3759574f92" /><Relationship Type="http://schemas.openxmlformats.org/officeDocument/2006/relationships/slide" Target="/ppt/slides/slide4.xml" Id="Rbcee2b11c75d47d9" /><Relationship Type="http://schemas.openxmlformats.org/officeDocument/2006/relationships/slide" Target="/ppt/slides/slide5.xml" Id="Rec5fbd238ff94210" /><Relationship Type="http://schemas.openxmlformats.org/officeDocument/2006/relationships/slide" Target="/ppt/slides/slide6.xml" Id="R570fe23f17d34996" /><Relationship Type="http://schemas.openxmlformats.org/officeDocument/2006/relationships/slide" Target="/ppt/slides/slide7.xml" Id="Raa51f90eaa72490f" /><Relationship Type="http://schemas.openxmlformats.org/officeDocument/2006/relationships/slide" Target="/ppt/slides/slide8.xml" Id="R6ef41aec1aed49a5" /><Relationship Type="http://schemas.openxmlformats.org/officeDocument/2006/relationships/slide" Target="/ppt/slides/slide9.xml" Id="Ref1ab11b28814706" /><Relationship Type="http://schemas.openxmlformats.org/officeDocument/2006/relationships/slide" Target="/ppt/slides/slide10.xml" Id="Rcef25b68f9204476" /><Relationship Type="http://schemas.openxmlformats.org/officeDocument/2006/relationships/slide" Target="/ppt/slides/slide11.xml" Id="Rb1424a7385ae4538" /><Relationship Type="http://schemas.openxmlformats.org/officeDocument/2006/relationships/slide" Target="/ppt/slides/slide12.xml" Id="R8531feb6efcc4d88" /><Relationship Type="http://schemas.openxmlformats.org/officeDocument/2006/relationships/slide" Target="/ppt/slides/slide13.xml" Id="Rd566260db11e4334" /><Relationship Type="http://schemas.openxmlformats.org/officeDocument/2006/relationships/slide" Target="/ppt/slides/slide14.xml" Id="R22f970e3e8cc430d" /><Relationship Type="http://schemas.openxmlformats.org/officeDocument/2006/relationships/slide" Target="/ppt/slides/slide15.xml" Id="R07b5d9d4cd0e44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a46757ce01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31144649044f75" /><Relationship Type="http://schemas.openxmlformats.org/officeDocument/2006/relationships/notesMaster" Target="/ppt/notesMasters/notesMaster1.xml" Id="R5df015d8ce4241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a11f2121ac495a" /><Relationship Type="http://schemas.openxmlformats.org/officeDocument/2006/relationships/notesMaster" Target="/ppt/notesMasters/notesMaster1.xml" Id="R00094952fc6945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03ed975f3143a0" /><Relationship Type="http://schemas.openxmlformats.org/officeDocument/2006/relationships/notesMaster" Target="/ppt/notesMasters/notesMaster1.xml" Id="Rfd1a28e4e9fa41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18db4c094427d" /><Relationship Type="http://schemas.openxmlformats.org/officeDocument/2006/relationships/notesMaster" Target="/ppt/notesMasters/notesMaster1.xml" Id="R799f448b8df44c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e7c110825348a1" /><Relationship Type="http://schemas.openxmlformats.org/officeDocument/2006/relationships/notesMaster" Target="/ppt/notesMasters/notesMaster1.xml" Id="R0656f9dbc8e142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316d80fa26487b" /><Relationship Type="http://schemas.openxmlformats.org/officeDocument/2006/relationships/notesMaster" Target="/ppt/notesMasters/notesMaster1.xml" Id="R7d83a3ce49974b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7561720d51469e" /><Relationship Type="http://schemas.openxmlformats.org/officeDocument/2006/relationships/notesMaster" Target="/ppt/notesMasters/notesMaster1.xml" Id="Rce7dba5938c546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126f99a5f34df7" /><Relationship Type="http://schemas.openxmlformats.org/officeDocument/2006/relationships/notesMaster" Target="/ppt/notesMasters/notesMaster1.xml" Id="Rc17edf683e5a40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0ed5332aed418a" /><Relationship Type="http://schemas.openxmlformats.org/officeDocument/2006/relationships/notesMaster" Target="/ppt/notesMasters/notesMaster1.xml" Id="R710eb64b643f4a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0bfd752dc4477b" /><Relationship Type="http://schemas.openxmlformats.org/officeDocument/2006/relationships/notesMaster" Target="/ppt/notesMasters/notesMaster1.xml" Id="Rd3fa705ecdb64f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546c5aa69b4a9c" /><Relationship Type="http://schemas.openxmlformats.org/officeDocument/2006/relationships/notesMaster" Target="/ppt/notesMasters/notesMaster1.xml" Id="Rb2445a291a1f48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e269362f164ee4" /><Relationship Type="http://schemas.openxmlformats.org/officeDocument/2006/relationships/notesMaster" Target="/ppt/notesMasters/notesMaster1.xml" Id="Rad7fb15cd0a245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3eacae3de84761" /><Relationship Type="http://schemas.openxmlformats.org/officeDocument/2006/relationships/notesMaster" Target="/ppt/notesMasters/notesMaster1.xml" Id="R6bd847bced3e4f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9d5bb706a54d72" /><Relationship Type="http://schemas.openxmlformats.org/officeDocument/2006/relationships/notesMaster" Target="/ppt/notesMasters/notesMaster1.xml" Id="R49816773dc4746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1e92a5aea7461b" /><Relationship Type="http://schemas.openxmlformats.org/officeDocument/2006/relationships/notesMaster" Target="/ppt/notesMasters/notesMaster1.xml" Id="Rdd4b1e5a06ce42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5a8dfa38a4f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43d127e0f04af0" /><Relationship Type="http://schemas.openxmlformats.org/officeDocument/2006/relationships/slideLayout" Target="/ppt/slideLayouts/slideLayout1.xml" Id="Rcc6ebae5802b47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6ebae5802b47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6c155e5e84d32" /><Relationship Type="http://schemas.openxmlformats.org/officeDocument/2006/relationships/notesSlide" Target="/ppt/notesSlides/notesSlide1.xml" Id="R6e43298e60b445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c1c67101040f6" /><Relationship Type="http://schemas.openxmlformats.org/officeDocument/2006/relationships/notesSlide" Target="/ppt/notesSlides/notesSlide2.xml" Id="R55f3bff25a4e4b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e607fa2454559" /><Relationship Type="http://schemas.openxmlformats.org/officeDocument/2006/relationships/notesSlide" Target="/ppt/notesSlides/notesSlide3.xml" Id="Re3e532e2d9c142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b778cc7034e70" /><Relationship Type="http://schemas.openxmlformats.org/officeDocument/2006/relationships/notesSlide" Target="/ppt/notesSlides/notesSlide4.xml" Id="R85798f1505ad40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6c8ed06e14d19" /><Relationship Type="http://schemas.openxmlformats.org/officeDocument/2006/relationships/notesSlide" Target="/ppt/notesSlides/notesSlide5.xml" Id="R5f1b832165e241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3a71ff3cc4186" /><Relationship Type="http://schemas.openxmlformats.org/officeDocument/2006/relationships/notesSlide" Target="/ppt/notesSlides/notesSlide6.xml" Id="Rfb4a5867f2f045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da45dbb0e497a" /><Relationship Type="http://schemas.openxmlformats.org/officeDocument/2006/relationships/notesSlide" Target="/ppt/notesSlides/notesSlide7.xml" Id="R24138bfdbf1140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ad58399194e8c" /><Relationship Type="http://schemas.openxmlformats.org/officeDocument/2006/relationships/notesSlide" Target="/ppt/notesSlides/notesSlide8.xml" Id="R4e0c287faec744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8224f46334acd" /><Relationship Type="http://schemas.openxmlformats.org/officeDocument/2006/relationships/notesSlide" Target="/ppt/notesSlides/notesSlide9.xml" Id="Re4f4478f931b47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6e3dcb8ba4ee5" /><Relationship Type="http://schemas.openxmlformats.org/officeDocument/2006/relationships/notesSlide" Target="/ppt/notesSlides/notesSlide10.xml" Id="Rb3b1ace3e0974c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36763cf43492f" /><Relationship Type="http://schemas.openxmlformats.org/officeDocument/2006/relationships/notesSlide" Target="/ppt/notesSlides/notesSlide11.xml" Id="Rf2761ecc2dd947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ba83dd74043f9" /><Relationship Type="http://schemas.openxmlformats.org/officeDocument/2006/relationships/notesSlide" Target="/ppt/notesSlides/notesSlide12.xml" Id="R58a5a05dc04441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1868ced6e4aca" /><Relationship Type="http://schemas.openxmlformats.org/officeDocument/2006/relationships/notesSlide" Target="/ppt/notesSlides/notesSlide13.xml" Id="R637df1d4749448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b4aa28e404dcf" /><Relationship Type="http://schemas.openxmlformats.org/officeDocument/2006/relationships/notesSlide" Target="/ppt/notesSlides/notesSlide14.xml" Id="R1ffbe7e6690e40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6f98c24f0419b" /><Relationship Type="http://schemas.openxmlformats.org/officeDocument/2006/relationships/notesSlide" Target="/ppt/notesSlides/notesSlide15.xml" Id="Rd1883205fe314d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C7D971-A9F5-4FC6-B30E-EE579150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Proxy Peptide Integration and 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F6E21-CA71-46E3-9FB8-D5C2629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No-overlap dataset rebuild, 10-seed internal testing, and cleaned external positive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BF91E-DD85-4D7C-BFF1-7EB03580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E17F5-F580-46F1-A745-56651223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51B57-5BDC-4D9B-B8DD-792A2B1B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proxy positives reviewed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DF12D-A6CE-4810-92FB-EB933BC2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5760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0664D-FAFC-4A27-93B5-866D588A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48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A531E-9AFF-4661-AF8F-B9E51458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81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proxy positives added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F0612-ABD6-4DEB-BF01-2D224817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5760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5F64D-A594-4CFE-B26C-8E7E677E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48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C3AED"/>
                </a:solidFill>
              </a:defRPr>
            </a:pPr>
            <a:r>
              <a:rPr sz="3000" b="1">
                <a:solidFill>
                  <a:srgbClr val="7C3AED"/>
                </a:solidFill>
              </a:rPr>
              <a:t>91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3C976-2051-4D3E-A0DA-2C4CFBD4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final positives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551A0-5544-4E3E-88EB-548B54F7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EC23C-4EB5-40E6-ABC6-595ACF9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97706"/>
                </a:solidFill>
              </a:defRPr>
            </a:pPr>
            <a:r>
              <a:rPr sz="3000" b="1">
                <a:solidFill>
                  <a:srgbClr val="D97706"/>
                </a:solidFill>
              </a:rPr>
              <a:t>421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A440E-0E64-4EC1-B9B4-7B1F00DF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81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final negatives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870AA-1E2E-43C3-8F57-0F91173E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Results source: s1_proxy_no_overlap_* and external_validation_proxy_no_overlap/</a:t>
            </a:r>
          </a:p>
        </p:txBody>
      </p:sp>
    </p:spTree>
    <p:extLst>
      <p:ext uri="{BB962C8B-B14F-4D97-AF65-F5344CB8AC3E}">
        <p14:creationId xmlns:p14="http://schemas.microsoft.com/office/powerpoint/2010/main" val="1545029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F8EB9-051F-4C90-86CE-EB9AD13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proxy integration rebuilt the dataset instead of appending rows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D9A6F-71FA-4A09-AA75-D4BBB8C6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goal was a broader positive class without positive-positive or positive-negative containment overlaps.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4D117-FB14-47A6-B905-A00202B0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002C9-FA5E-4D39-A70D-1A777C98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857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476B8-BC51-4248-B3BB-59CF7B30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59089"/>
            <a:ext cx="857250" cy="3986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D7989-EF4E-4911-BCAA-3345B5F1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47535-9335-45AC-81EE-F24CB783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Original positives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6B2F5-1842-46D2-A71F-BDA367C5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19350"/>
            <a:ext cx="857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13DA5-B608-4A62-B339-280AF2FE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87295"/>
            <a:ext cx="857250" cy="1970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BE40F-C699-4815-B296-5414C497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435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F75E5-1768-4796-A00F-C97F81ED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Original negatives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4C5B0-C370-48F1-819C-67EBF8D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19350"/>
            <a:ext cx="857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AE248-BD42-4F6D-AEF6-39980845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21810"/>
            <a:ext cx="857250" cy="135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AF61E-D168-4D4C-83C0-D1DB9FE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95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62671-E1A0-42D0-A196-14A40F0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910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Proxy positives kept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3612B-E71C-48CB-8FA5-C12CE2B8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857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F4172-542F-41C2-90D5-081D48D0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45500"/>
            <a:ext cx="857250" cy="41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EDEB6-66D9-4D8C-AC12-02D828FA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91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10917-51B5-4D54-B4B9-7C734781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Final positives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6B67D-CCC0-4006-B2E4-36F5E7D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857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C761D-EEC0-4387-B3D7-27EED619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0710"/>
            <a:ext cx="857250" cy="1906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40B88-8C65-49BA-8ACA-0D491DD8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421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AD3DB-8194-4C9C-A15D-210081B2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910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</a:defRPr>
            </a:pPr>
            <a:r>
              <a:rPr sz="1050" b="0">
                <a:solidFill>
                  <a:srgbClr val="0F172A"/>
                </a:solidFill>
              </a:rPr>
              <a:t>Final negatives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85FF3-4059-4FC5-9529-68E99025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03251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648819-6986-4D5F-80E8-E229A07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40AF"/>
                </a:solidFill>
              </a:defRPr>
            </a:pPr>
            <a:r>
              <a:rPr sz="1650" b="1">
                <a:solidFill>
                  <a:srgbClr val="1E40AF"/>
                </a:solidFill>
              </a:rPr>
              <a:t>Final dataset: 61 retained S1 positives + 30 proxy positives + 421 negatives = 512 model rows.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3BFC2-A55A-44DA-ADA1-746C5689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2</a:t>
            </a:r>
          </a:p>
        </p:txBody>
      </p:sp>
    </p:spTree>
    <p:extLst>
      <p:ext uri="{BB962C8B-B14F-4D97-AF65-F5344CB8AC3E}">
        <p14:creationId xmlns:p14="http://schemas.microsoft.com/office/powerpoint/2010/main" val="1948809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4B5B8-CA2F-45EA-8B31-F44D3862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cleaning rule was stricter for short proxy peptides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69D78-332A-4748-BC56-0E5526AF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Most proxy peptides were 5-mers, so overlap screening used full containment at length 5 or longer.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157BB-AA8D-4DE1-BF6B-255AEDE8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01385-E411-4E2B-84AB-48F02D00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2575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041F4-4DF2-4768-8FF2-3E6AE067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AC05D-A468-422C-AE86-1927E2DC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AC5C2-7F70-4212-82AE-48A8F9C4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289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Original S1 positives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6DE22-1D9A-4ECA-9209-DF185E2E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55B28-4301-4D64-A3A3-BFBB367F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Original negatives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449C4-4607-4868-A8F4-D452C41B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110DF-FA8F-4C51-8A0D-F7381E28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Model-ready proxy positives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6F878-C4FF-4022-BCA8-F098D3FC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5FEE4-6652-47E9-990D-7C51F98C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Excluded/caution proxy rows stayed 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2DE92-6D43-4C2A-A3F7-80FBB5D4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575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6C526-86FA-4FBE-B502-01961960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706"/>
                </a:solidFill>
              </a:defRPr>
            </a:pPr>
            <a:r>
              <a:rPr sz="1875" b="1">
                <a:solidFill>
                  <a:srgbClr val="D97706"/>
                </a:solidFill>
              </a:rPr>
              <a:t>Filters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90BC9-EEF0-4CE1-893E-50377B1A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05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57D96-E195-4543-A4E6-00B6AFC9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289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Keep standard amino acids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EF921-FB55-4FA2-9EB9-473FFC70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EE836-5275-4208-9CD2-9692CE1F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051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Minimum peptide length: 5 aa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FA0D0-E419-4A7D-AAD5-E195738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57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5D07E-7E33-4042-994D-B46004CF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814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Remove duplicate positives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3A907-AA92-4247-90DF-5BDE3DE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8C338-0335-4A55-B98E-AD109CF8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576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Remove full containment overlaps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42120-69F9-4FC3-84AB-E45672B7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32575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8A87B-2F48-47EF-ACA6-8E3399E8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Audit Trail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51611-B69A-4D31-82A5-8789AC1B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B6D1E4-87E1-45C8-BEEA-E94EFBAF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Input manifest records initial 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36700-A844-46B5-9F79-97DEA246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C3A0F4-5C15-474D-8CC5-586869DF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Overlap audit records kept/removed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66BAA-A72B-4094-BE2F-C2C6CA3C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8F152-92FA-4BCE-90FD-B8CC3848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No remaining containment overlaps &gt;=5 aa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04A925-264E-4CDE-9D62-B2A4CAF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3</a:t>
            </a:r>
          </a:p>
        </p:txBody>
      </p:sp>
    </p:spTree>
    <p:extLst>
      <p:ext uri="{BB962C8B-B14F-4D97-AF65-F5344CB8AC3E}">
        <p14:creationId xmlns:p14="http://schemas.microsoft.com/office/powerpoint/2010/main" val="1966278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C5CB44-D6AB-4284-81B4-890E0EE3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Four proxy positives were removed to avoid duplicate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C078B-498D-425D-92D1-400202E4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retained proxy set contributed 30 positives after containment screening.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D5E5A-F3B4-467C-A546-82017239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DD008-2495-4ED7-9BCD-3526CB07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Proxy positives provided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19D95-FFEF-40D4-8CFF-E144986F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97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65F6E-F2CA-459A-AF20-115FB6F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97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88718-D399-4231-BDAA-24A90968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145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EF667-B293-4EA8-914C-1B076C3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Proxy positives kept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C02CF-8E07-42F7-9BE6-644D45CD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40125-16F5-4507-A85E-76A4D8E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344580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E99F7-0CC6-4A63-988A-6308A564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431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440A6-2969-463D-862E-BA460C95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Proxy positives removed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C516A-F02A-493E-B7F8-167ECB8D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670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07453-E87E-483D-90A9-D9C987CC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67075"/>
            <a:ext cx="45944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682AC-BB1C-456B-8433-7C2A0ED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718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644BE-2AC8-4FEF-A1CF-2A42CDBE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9525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EAE48-EEAA-452D-8B21-2E2F46D5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57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91B1B"/>
                </a:solidFill>
              </a:defRPr>
            </a:pPr>
            <a:r>
              <a:rPr sz="1725" b="1">
                <a:solidFill>
                  <a:srgbClr val="991B1B"/>
                </a:solidFill>
              </a:rPr>
              <a:t>Removed due to containment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A4240-4A9F-4DB4-A4D4-1A02A2A1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food_PGEOG / PGEPG was contained in biopep_3276 / KPGEPGPK; rgd_29 / PRGDC overlapped P82; rgd_18B and rgd_23B contained GRGDC from rgd_17B.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3B7C3-61FE-4EAA-A1F9-126CAC19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4</a:t>
            </a:r>
          </a:p>
        </p:txBody>
      </p:sp>
    </p:spTree>
    <p:extLst>
      <p:ext uri="{BB962C8B-B14F-4D97-AF65-F5344CB8AC3E}">
        <p14:creationId xmlns:p14="http://schemas.microsoft.com/office/powerpoint/2010/main" val="4961362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65E99F-67B7-4658-9257-A7E1348A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proxy data broadened the positive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1A978-6840-46A9-AF9F-C20816CE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model now sees collagen-derived antiplatelet peptides and RGD/GPIIb/IIIa-related peptides in addition to S1 positives.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94BE9-B6DE-41FF-916C-CCFA2213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5DB0A-434F-4AD6-BF4E-F1A59B9A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1051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C903B-95FC-4973-9F23-2E12C72F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766E"/>
                </a:solidFill>
              </a:defRPr>
            </a:pPr>
            <a:r>
              <a:rPr sz="3600" b="1">
                <a:solidFill>
                  <a:srgbClr val="0F766E"/>
                </a:solidFill>
              </a:rPr>
              <a:t>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DE7B6-7A64-4B42-AC2A-914B2264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retained S1 positives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0E400-70D1-44E9-97AA-577C9B76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Many S1 variants were removed when fully contained in a retained positive peptide.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F2C6D-5CA5-4BD8-A20C-B3BC646E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31051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C7B32-2207-416E-9DFE-F68A94A1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FD414-EE7A-4379-BFC8-56CBD2FA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added proxy positives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CE0CB-1F80-4D19-A741-87639D5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337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These are model-ready, normalized sequences from the proxy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5F27E-7DC8-4DDD-8620-0550945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31051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3DEC7-29F7-43C4-A9DB-55BA92E6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7706"/>
                </a:solidFill>
              </a:defRPr>
            </a:pPr>
            <a:r>
              <a:rPr sz="3600" b="1">
                <a:solidFill>
                  <a:srgbClr val="D97706"/>
                </a:solidFill>
              </a:rPr>
              <a:t>421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BD669-B1F2-44CD-8F57-BCB6108F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negative peptides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B1C2A-C5FD-4AD6-8CA9-CBECC4AF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Short invalid negatives and positive-overlap negatives were removed.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4644D-BE6E-456A-8511-9D5217B8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5</a:t>
            </a:r>
          </a:p>
        </p:txBody>
      </p:sp>
    </p:spTree>
    <p:extLst>
      <p:ext uri="{BB962C8B-B14F-4D97-AF65-F5344CB8AC3E}">
        <p14:creationId xmlns:p14="http://schemas.microsoft.com/office/powerpoint/2010/main" val="1101321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4B2AC-72BE-482F-A719-23EEE652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Internal test performance shifted after proxy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584DE-EABC-41BF-A03C-E092BEA7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best proxy-integrated internal MCC was lower than the prior S1-only best, which is expected when the positive class becomes broader.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35258-D072-459A-9BCF-32CEAAA5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5D17C-491A-4027-8401-62A894A8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 + RBF SVM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69AF6-328A-400D-B835-E0356935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573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02A9B-D94B-4B40-A566-899DA327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57375"/>
            <a:ext cx="361235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F3E69-0155-45B2-971F-A0F4BB9D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621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0.740 ± 0.055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83AFA-A144-4424-9544-2DFD1276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AAC+CTD+DPC + logistic 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CFA88-707D-4C14-8D46-6D8E486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38400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1411F-EAFA-4CA3-9ADE-822135BC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38400"/>
            <a:ext cx="359771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CA513-A7FE-4635-AF78-C739F9E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0.737 ± 0.061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C2E78-0DA5-4125-AAF8-54228A6C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AAC+CTD+DPC + XGBoost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98B53-016A-482A-9B2E-AD8DB0F4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1942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D1755-0827-4799-821C-F95AC67C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19425"/>
            <a:ext cx="357330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FEA09-448C-4072-A3D6-BEE3F6D7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241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0.732 ± 0.054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4C478-69FB-4A52-89BD-39DA98A2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 + KNN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C2C25-E74C-4741-99E7-D62D0E1B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00450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37EEA-80B5-41EC-B35C-E665AD38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00450"/>
            <a:ext cx="35586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9C294-740A-42CA-B905-F1EA565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0.729 ± 0.037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EAE17-34AD-4473-85B7-296F59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AAC+CTD+DPC + linear SVM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10663-FDFE-42EC-AC6B-85D842D6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814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4B836-2FAB-4A49-8D8E-440C7F3E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81475"/>
            <a:ext cx="352937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24CAD-5B60-4478-8538-05EF07B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862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0.723 ± 0.055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CDEEF-1EE0-4F0F-A086-468FFD6B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 + XGBoost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8D0CC-1BA6-4383-92FE-75A802AC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62500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6F263-4A6D-4463-81EE-9FE1C9C7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62500"/>
            <a:ext cx="35244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5FA83-30BF-4A15-9690-3C38DD1E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0.722 ± 0.078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7A060-D8E1-4FD4-B59A-286EC2C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19300"/>
            <a:ext cx="1790700" cy="2190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D52DF-D65C-4ED7-8F74-A2BE4560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5F46"/>
                </a:solidFill>
              </a:defRPr>
            </a:pPr>
            <a:r>
              <a:rPr sz="1650" b="1">
                <a:solidFill>
                  <a:srgbClr val="065F46"/>
                </a:solidFill>
              </a:rPr>
              <a:t>Best internal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1B514-5598-4086-BE47-6E2666C3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19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AAC+CTD with RBF SVM had the strongest test MCC after proxy integration.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4BD30-150B-4A32-A28D-51B2867E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6</a:t>
            </a:r>
          </a:p>
        </p:txBody>
      </p:sp>
    </p:spTree>
    <p:extLst>
      <p:ext uri="{BB962C8B-B14F-4D97-AF65-F5344CB8AC3E}">
        <p14:creationId xmlns:p14="http://schemas.microsoft.com/office/powerpoint/2010/main" val="1552645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8698C-D4FD-420C-96D8-F1E8189B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External positive detection remained strongest for AAC+CTD+DPC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35156-23ED-4D63-AF44-47271183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external set contains positives only, so this metric is positive-call sensitivity rather than full accuracy.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D5BCC-6475-407A-B732-B547D883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B14C7-2C60-4F1B-A79A-BB539C8B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AAC+CTD+DPC +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DDA0B-1B38-4039-8D7D-8590A273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573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660EB-9321-4BB6-A2BD-8498FE8E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57375"/>
            <a:ext cx="37433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94899-5C3E-4466-91A1-2917E67E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621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79% ± 0.059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C5422-CE8F-4CEF-8D7A-3C737D67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AAC+CTD+DPC + logistic 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70B88-C484-4066-915C-D9DEF2ED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38400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D96F6-1C36-4BA0-9957-AE9F573F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3840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DF1ED-6444-43BB-8EB0-19585E92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70% ± 0.065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49C1E-9358-42AF-BA3D-3AE03FB9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AAC+CTD+DPC + linear SVM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C46A9-8F36-49E1-9848-E5F9C214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1942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D9561-DD58-4631-9A93-D69C86EF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19425"/>
            <a:ext cx="33004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2EF23-57A5-4829-B13E-0FCC6AEE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241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69% ± 0.059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4254B-6454-4944-8D47-FE508957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 + KNN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69B30-E32A-4F56-8A00-FEA1DC19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00450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9CA73-CAFD-40B3-BFA2-F54AE173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00450"/>
            <a:ext cx="316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BD802-BE42-4613-A134-77F86DDF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66% ± 0.055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9892F-E392-4B9E-A41B-EAAAEA7B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 + KNN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08135-BED3-4387-B8EA-6231C93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814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4BA0CF-C47C-4807-A8DD-A2217025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81475"/>
            <a:ext cx="2790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AE44B-24FC-40C6-973D-A7CB0363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862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59% ± 0.086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3FAA1A-C5F5-406F-8FD6-B59F139B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AAC+CTD + RBF SVM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B7790A-4A57-406B-BD1E-6AF5A459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62500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50F901-AF7F-4FF1-B07C-41B1E909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62500"/>
            <a:ext cx="27574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171DE-6911-408E-BE2B-C25C581C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58% ± 0.082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2A8CB-C195-4940-A51D-E38148EE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19300"/>
            <a:ext cx="1790700" cy="2190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6FA297-69CC-4775-8341-102D11A7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400E"/>
                </a:solidFill>
              </a:defRPr>
            </a:pPr>
            <a:r>
              <a:rPr sz="1650" b="1">
                <a:solidFill>
                  <a:srgbClr val="92400E"/>
                </a:solidFill>
              </a:rPr>
              <a:t>Caution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CDEB4-3091-4BB2-BCF4-1299A167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219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KNN is most sensitive externally but should be interpreted with internal MCC.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A3C56-3C9C-4C47-B171-4403B9E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7</a:t>
            </a:r>
          </a:p>
        </p:txBody>
      </p:sp>
    </p:spTree>
    <p:extLst>
      <p:ext uri="{BB962C8B-B14F-4D97-AF65-F5344CB8AC3E}">
        <p14:creationId xmlns:p14="http://schemas.microsoft.com/office/powerpoint/2010/main" val="117668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2979E9-6DC5-444F-B15B-CB4AD9B2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Compared with the prior S1-only run, proxy integration made the task harder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61A44-5340-4547-AC63-53496788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Most high-performing S1-only models lost internal MCC, especially the previous AAC+CTD+DPC RBF SVM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AA23C-C1BB-46D1-8A15-E17A1264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775A5-D714-477E-BC79-0CC4939C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71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AAC logistic regression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FA20D-5531-4DB3-8CCD-D1B024CD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2E11A-3B74-4F12-A409-F3519F55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81175"/>
            <a:ext cx="43074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E13B3-081D-4D68-B76A-759D248B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430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+0.037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73FDB-DD95-40EB-B0F7-A915DF49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AAC linear SVM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08C1B-5006-4C7D-ABEC-AB065812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E6161-385C-4299-8E95-4F49C2D3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71725"/>
            <a:ext cx="15134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F186B-4EC8-4A8F-9952-04BF85A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+0.013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2B7FB-0E58-4D3E-B3F9-9DF8996A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AAC XGBoost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2A9BD-5E20-46FB-A414-DE23B4F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6A336-2FA4-42BB-B197-6D1D8788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62275"/>
            <a:ext cx="5820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1AE1F-6A06-4F4E-A184-8798B1D3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+0.005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1AAAE-C1CB-419D-A589-3D29197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AAC+CTD RBF SVM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C6F1D-0BC8-46A3-885D-2DCB563C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69FFB0-CE57-47D2-AA41-FC63C39F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783" y="3552825"/>
            <a:ext cx="102446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61C3B-DEF7-4F24-B570-76C72EA9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147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-0.088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7B587-3C0D-4B65-A476-C2D747BD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AAC+CTD+DPC logistic regression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404E8-BFF7-48E1-8B9A-3CFD3C19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3CCF6-606B-45D3-807E-D261C0F8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692" y="4143375"/>
            <a:ext cx="82655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11CCD-648C-4F18-8677-174F1891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52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-0.071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28C63-C6AF-484D-8528-66391563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AAC+CTD+DPC RBF SVM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99A7B-17DB-42B2-A63A-B0EAFDD6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96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D8E5E-53D7-4782-8332-3E200742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4733925"/>
            <a:ext cx="195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5BF5D-5CCF-4A1D-8475-347D64E5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-0.168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5A4ABC-7779-47D9-8C75-64DD5509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FD09BE-B5AC-4225-81DA-5B2D9617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91B1B"/>
                </a:solidFill>
              </a:defRPr>
            </a:pPr>
            <a:r>
              <a:rPr sz="1725" b="1">
                <a:solidFill>
                  <a:srgbClr val="991B1B"/>
                </a:solidFill>
              </a:rPr>
              <a:t>Meaning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64287F-A87D-442E-928B-34D83B1C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52750"/>
            <a:ext cx="1695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proxy set adds new mechanisms and short motifs, so the classifier has to learn a less narrow positive class.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F73A1B-107D-4F6E-8597-A04A14B2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8</a:t>
            </a:r>
          </a:p>
        </p:txBody>
      </p:sp>
    </p:spTree>
    <p:extLst>
      <p:ext uri="{BB962C8B-B14F-4D97-AF65-F5344CB8AC3E}">
        <p14:creationId xmlns:p14="http://schemas.microsoft.com/office/powerpoint/2010/main" val="10278220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29638-6EBB-43DD-8357-2CC032F2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Proxy vs non-proxy: broader training, similar external 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99B5A-AF89-4C4A-80E2-AC33C41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proxy run reduced the best internal MCC, but external positive detection stayed nearly unchanged for the strongest KNN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962DC-9A5B-4710-AD45-1323BB6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A5712-45D6-4A04-AA7B-63707FEF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Non-proxy S1-only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97306-AB80-4997-8065-C49C982D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90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Proxy-integrated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464F7-1B82-4D74-83BF-A68E9567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16FC6-0427-4948-A2EE-E459FDDA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Training positives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9004C-B37A-4D0E-8AE7-DCBDA72E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4C44F-933B-4119-B898-7D2AF903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907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88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DC668-63B0-4674-98C8-2738FF0E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6A98E-0138-4D76-9216-10D6C076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907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91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15191-EF70-42D9-A41A-9E71D04D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0B9AE-1D52-4160-ADBF-2CE23CAF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907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+3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E950E-3962-4AB9-BDB9-C8B9F6CE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External peptides kept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5DC1F-1F6C-46BF-B8E9-1703A7C3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480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3414F-AA93-4DCA-B280-6F3EABC8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33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A4B33-A24B-49B5-9BF5-FDCF7227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456B3-5E2D-42B7-923D-6D83F9E9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33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4ECB7-FA39-4943-B2AD-FE3CD651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FF67C-9F6E-495D-8C11-AB6AA3B6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33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+3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DB051-E2C8-41C6-B8E2-F5F1152D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Best internal MCC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32B943-4ED2-40C8-AE46-C94ECC38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909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BA0221-F885-416F-A518-AEA2374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766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0.849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233E0-0907-41B6-B260-EA223794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5725B-BC70-485F-878B-950D136B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766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0.740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0DD42-3646-4C72-A6E4-EAAB23FF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C8B23-DACC-4356-ABB4-810F4215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766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-0.109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E39AA-2FB7-4BE4-95A5-608B7536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Best external positive calls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8587E6-8889-47B7-B146-6F02B1DF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E86FFC-D3EF-4F3F-9E45-EE2A62E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78.2%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BC2F35-766E-4B24-84B9-6C923BD9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339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7A6692-9C00-4E3C-8508-6D589D18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196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78.6%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413EB8-793D-499A-8C5D-62ADD4C7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339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3C62AB-D673-455B-94A6-F34CF0E0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96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+0.4 pts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33D0F1-4575-4970-AF71-A12CA772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1885950" cy="22098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C1158F-76C2-4FB4-931E-EB60D31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43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Interpretation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4266E1-A78C-481B-BC1F-4D0B9B3C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40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Proxy peptides broadened the positive class and made internal classification harder. External sensitivity stayed strong, so internal MCC should guide model choice.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EBE1B9-1DE1-4E10-964E-95DD351A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9</a:t>
            </a:r>
          </a:p>
        </p:txBody>
      </p:sp>
    </p:spTree>
    <p:extLst>
      <p:ext uri="{BB962C8B-B14F-4D97-AF65-F5344CB8AC3E}">
        <p14:creationId xmlns:p14="http://schemas.microsoft.com/office/powerpoint/2010/main" val="1887030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ACF27-E054-4ECF-96A0-9A0FDBC3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Which is better depends on the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4C6BC-6054-448E-9EBF-9841D801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non-proxy models are better as a clean benchmark; the proxy-integrated models are better for broader discovery.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E8883-1B8B-4ACA-812E-FC77B91C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D2DB1-8E16-45BA-8978-D7213CA9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32575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658D3-FAD8-4B93-88EA-905C95F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Non-proxy S1-only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A2CA3-5598-4527-8E8D-5757D36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19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Better for internal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D22A2-9E7E-4022-8109-62FFEECB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0420F-94ED-4864-A394-95B2202D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99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Highest internal MCC: 0.849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E4FEC-3F3B-499C-8D14-69A1BA86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6B111-BA35-488F-85FD-D87C706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671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More consistent positive 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3FE11-D635-4984-A159-E2F4EF0A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B47B3-E599-423A-B0C5-D48612EE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Cleaner for reporting baseline model strength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E1FAE-3E48-4BB7-A3D3-A0E1F9B1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32575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7AACE-893A-453C-BC67-5B321FBD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66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Proxy-integrated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2CFD4-D694-4293-B20B-8D467588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Better for discovery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BCC7F-2DF4-40F9-BE9E-C1647446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8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A5897-B046-465E-90AE-2CCA683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099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Adds 30 proxy positives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5C83B-B145-4032-93CB-01E32A6D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84121-E855-4541-9BA0-7E7354DF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671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Represents more antiplatelet mechanisms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BAE65-A023-4B29-B8C6-B0CBEA10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800EE-DC95-43C0-9635-082EA6C6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243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External sensitivity stayed strong: 78.6%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64D7A-23C3-4A22-A31A-9F705AA0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32575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881BE-F83B-44D9-AB38-3C0BFCD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2400E"/>
                </a:solidFill>
              </a:defRPr>
            </a:pPr>
            <a:r>
              <a:rPr sz="1875" b="1">
                <a:solidFill>
                  <a:srgbClr val="92400E"/>
                </a:solidFill>
              </a:rPr>
              <a:t>Best choice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D7466F-97C6-4989-93D4-38DC47D9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Use both, but label them separately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B2E6E-564F-4E38-BDBF-D026C361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Report non-proxy as the stricter baseline and proxy-integrated as the expanded discovery model. Proxy integration improves coverage, not every metric.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8EDD0-B5BA-418C-81C8-DDAD0859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10</a:t>
            </a:r>
          </a:p>
        </p:txBody>
      </p:sp>
    </p:spTree>
    <p:extLst>
      <p:ext uri="{BB962C8B-B14F-4D97-AF65-F5344CB8AC3E}">
        <p14:creationId xmlns:p14="http://schemas.microsoft.com/office/powerpoint/2010/main" val="8602480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48BE7E-C26B-4D20-9387-297688C1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Why the proxy model is not automatically better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85ECF-F02C-47B6-A3E3-35D0AAC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proxy peptides add biological coverage, but they also make the machine-learning boundary harder to learn.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7909B-3BBA-42B9-A58A-5795FF4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F7B80-3990-4232-9C9A-1DDAF165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Best internal MCC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F57EC-592C-4EF9-A335-F01D6705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2057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1E6CF-683E-40B5-B680-EDACB6EC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05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Non-proxy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E86FB-CC05-4DFD-A9A5-2057EE11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0.849 vs 0.740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21CE5-58E6-4C11-9375-75B77996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Best external positive calls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A03D9-3390-4A5D-A57D-5D5A3F04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76500"/>
            <a:ext cx="2057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82C7C-F1A1-464D-8807-38045B81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717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Tie / proxy slight 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419C3-8A67-4346-A128-1B1FCE9F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78.2% vs 78.6%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F314A-59A2-46AA-A0EC-E731F53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Training positives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3B5F0-7708-40C6-9920-996DC35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43250"/>
            <a:ext cx="2057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7B62D-0577-41A1-A078-DBF9885E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89E1E-B0F8-44EC-ADF0-F5A3D6DF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88 vs 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5C07F-B75F-4381-A556-3E3C1DA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Biological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731BA-74D8-403F-BE80-1D539AA9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2057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FAC1A-5461-4CDF-B03F-909C7B72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Proxy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6C5DB-8185-4364-BFB7-AC7799A2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Adds RGD/collagen proxies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87A2E-C2B8-4F8C-B64F-EE6FE193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Model simplicity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3E7F6-49BD-420A-A4A6-82E1D7B5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76750"/>
            <a:ext cx="2057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EA61F-E483-40B2-9419-E4767AD2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Non-proxy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20B66-A9CF-437E-8EAA-DC462544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5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Narrower positive class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6250D-9C77-4EF4-8167-89584FB8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266950" cy="24384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C56B2-9852-4884-9CF8-7BD33BEA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</a:defRPr>
            </a:pPr>
            <a:r>
              <a:rPr sz="1650" b="1">
                <a:solidFill>
                  <a:srgbClr val="991B1B"/>
                </a:solidFill>
              </a:rPr>
              <a:t>Interpretation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C9F2A-EF71-42CE-8828-A4CAD2E7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1581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Lower internal MCC does not mean the proxy model failed. It means the expanded positive class is more diverse. That is useful for screening, but less clean for benchmark accuracy.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FFB52-8741-48FB-B66A-96D5345B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11</a:t>
            </a:r>
          </a:p>
        </p:txBody>
      </p:sp>
    </p:spTree>
    <p:extLst>
      <p:ext uri="{BB962C8B-B14F-4D97-AF65-F5344CB8AC3E}">
        <p14:creationId xmlns:p14="http://schemas.microsoft.com/office/powerpoint/2010/main" val="471842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FE29D9-B5ED-48D0-9D6A-B228004F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external set changed because overlap screening now uses proxy-integrated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1F29E-5390-49D6-9151-2414CC1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Fourteen external peptides remained after cleaning against the new training 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FB442-1D51-4CB0-8599-E8456318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813C8-2D91-4E3B-BE12-A16E8ED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73C7A-F90B-42FF-997C-1499665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EB121-A399-488C-B054-B93D4476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external peptides kept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9EBEC-03B8-4690-A0DA-5E5A7BB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F0E1E-C86D-47B3-9D54-8867E723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14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C2626"/>
                </a:solidFill>
              </a:defRPr>
            </a:pPr>
            <a:r>
              <a:rPr sz="3000" b="1">
                <a:solidFill>
                  <a:srgbClr val="DC2626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9FD9F-9686-4414-97ED-0806D96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external peptides removed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4C69B-1034-42C1-84E4-B8E4F43D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43B3A-6A79-4FC4-AE25-99C7E501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89A95-9EE3-4653-B3F9-1E67D0FC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S3 peptides kept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0086F-5E3A-4A52-8F40-FB9D43B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2266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DAF07-C03F-4196-957F-AC0ADEBA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14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97706"/>
                </a:solidFill>
              </a:defRPr>
            </a:pPr>
            <a:r>
              <a:rPr sz="3000" b="1">
                <a:solidFill>
                  <a:srgbClr val="D97706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DA5B7-CD0E-438E-9D84-694BE87B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S5 peptides kept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1A112-7580-42B1-B19A-C73900B0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94869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2162E-DD4A-451D-9ADC-D375368D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76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</a:defRPr>
            </a:pPr>
            <a:r>
              <a:rPr sz="1800" b="1">
                <a:solidFill>
                  <a:srgbClr val="1E40AF"/>
                </a:solidFill>
              </a:rPr>
              <a:t>Why this differs from the earlier external 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52559-57B5-4E4C-AE60-2D5B60A6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Some S1 peptides that previously caused exact external overlap were removed during the proxy no-overlap rebuild. That allowed avathrin, lepirudin, and bivalirudin to remain in the cleaned external check.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B752F-CA5D-4AF6-A308-7E09712A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12</a:t>
            </a:r>
          </a:p>
        </p:txBody>
      </p:sp>
    </p:spTree>
    <p:extLst>
      <p:ext uri="{BB962C8B-B14F-4D97-AF65-F5344CB8AC3E}">
        <p14:creationId xmlns:p14="http://schemas.microsoft.com/office/powerpoint/2010/main" val="8753254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033F70-9DF9-4789-B8F6-B80C141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Among the four new peptides, new_adc still had the strongest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52011-CEFC-490C-BF82-A8E8BAD5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Proxy integration increased support for new_adc, while the other three stayed mostly out-of-domain.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5A6E3-D388-43CF-AD7B-EAC5606E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498A2-43AB-4426-925C-9C5F7497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new_adc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DC109-E3D6-4ADE-B2E6-82A997B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335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D95DA-2A7C-44B6-A684-0C0C2EDF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33575"/>
            <a:ext cx="365140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E7332-BEAC-45A1-839F-AF686E89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383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56% avg positive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856E7-E9F8-49C6-820E-CEB96E1C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new_gcs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DAAED-F09A-4AD5-AB8B-8A31521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1462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AB046-878B-4E60-9C9E-D90682F6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14625"/>
            <a:ext cx="50768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A2DCB-828D-44B5-87B6-F8DCFEB5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193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8% avg positive calls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82372-5F12-49EA-A691-6310CE7B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new_spfrvvfvkp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3CE3F-89B3-4824-BC2D-BEE3101B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9567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E0885-A8DE-4F49-8D1C-B8C47AE7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95675"/>
            <a:ext cx="390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E1932-3B3F-431C-B40D-32706D26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04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1% avg positive calls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7956B-5F21-4403-BC74-37982D9C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new_vis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C9CA7-943C-4194-AE84-4F50E235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76725"/>
            <a:ext cx="390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4CEF4-13E1-4B01-A3E1-C5927D23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76725"/>
            <a:ext cx="390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7D3A1-AEB7-476C-B2A3-5A553A37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814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1% avg positive calls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94F13-AC69-4916-B4C6-CA5ACB95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66900"/>
            <a:ext cx="27241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6486B-AD23-409E-9BE3-0F853F8B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5F46"/>
                </a:solidFill>
              </a:defRPr>
            </a:pPr>
            <a:r>
              <a:rPr sz="1800" b="1">
                <a:solidFill>
                  <a:srgbClr val="065F46"/>
                </a:solidFill>
              </a:rPr>
              <a:t>Lead candidate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DD5E3-0798-43A2-A492-F56AAD6F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new_adc remained the most model-supported novel peptide after training with proxy positives.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566C2-EADA-455B-BFD5-37BCB4E8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13</a:t>
            </a:r>
          </a:p>
        </p:txBody>
      </p:sp>
    </p:spTree>
    <p:extLst>
      <p:ext uri="{BB962C8B-B14F-4D97-AF65-F5344CB8AC3E}">
        <p14:creationId xmlns:p14="http://schemas.microsoft.com/office/powerpoint/2010/main" val="6187172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A13997-8CBB-4A6E-86F0-5BCBA666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best model choice depends on the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03CD8-8ACA-4275-BDC3-865D3AE6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Proxy integration separates sensitivity from robustness more clearly than the S1-only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2407A-48FE-49F1-8578-FFAD5C55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C9F67-4B6B-4C41-8EB8-9CBF0B90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670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B709E-874A-48ED-AEF8-5EAB0DD9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5F46"/>
                </a:solidFill>
              </a:defRPr>
            </a:pPr>
            <a:r>
              <a:rPr sz="1950" b="1">
                <a:solidFill>
                  <a:srgbClr val="065F46"/>
                </a:solidFill>
              </a:rPr>
              <a:t>Best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DD59B-7AE2-423B-A703-B07673FD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AAC+CTD + RBF SVM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9AC19-D42B-4A52-8BD4-812CAA6C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MCC 0.740 ± 0.055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EFE50-9325-46DC-8A2A-67C9768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30670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7E9D7-3249-4B88-A8E2-E780E2D9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2400E"/>
                </a:solidFill>
              </a:defRPr>
            </a:pPr>
            <a:r>
              <a:rPr sz="1950" b="1">
                <a:solidFill>
                  <a:srgbClr val="92400E"/>
                </a:solidFill>
              </a:rPr>
              <a:t>Best external sensitivity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11153-C135-4987-9CF7-62B35769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AAC+CTD+DPC + KNN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9D638-C457-4CF5-930A-31273DB4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79% ± 0.059 positives called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AA973-4C9E-4DC8-9C4C-1A0DBE38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0670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6169B-58A5-4967-8F73-421BEAE1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40AF"/>
                </a:solidFill>
              </a:defRPr>
            </a:pPr>
            <a:r>
              <a:rPr sz="1950" b="1">
                <a:solidFill>
                  <a:srgbClr val="1E40AF"/>
                </a:solidFill>
              </a:rPr>
              <a:t>Most balanced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A6799-9152-4CDD-B30C-5DD5DC5A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AAC+CTD+DPC + logistic regression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3BBF7-43C0-45F3-81B0-8B8CD3B1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MCC 0.737; external 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A733A-9F5E-4EE3-910C-A0E0FFE9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14</a:t>
            </a:r>
          </a:p>
        </p:txBody>
      </p:sp>
    </p:spTree>
    <p:extLst>
      <p:ext uri="{BB962C8B-B14F-4D97-AF65-F5344CB8AC3E}">
        <p14:creationId xmlns:p14="http://schemas.microsoft.com/office/powerpoint/2010/main" val="684667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5C408C-8814-4A4D-84D7-BBF30247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Next steps should preserve the audit trail and add applicability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2B9BD-E4E7-4564-8A81-C934AE7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proxy-integrated model is broader, but it needs clearer domain-awareness for interpretation.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FE430-D023-4CFB-8A3D-06E22700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8B678-F553-42D4-9CEE-0532EDF4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627E5-5F75-4880-93FB-94210A3E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Keep original S1 files untouched and use s1_proxy_no_overlap_* for proxy-trained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C69AD-75B9-48DF-A3A5-5D90E9EF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C2FF8-9427-4708-A3CC-39EEE3D2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Report proxy integration as a new training problem, not a direct replacement for S1-only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25789-0ADE-4864-95AE-B1215282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74E33-C3BA-4F41-BC6C-F37EB8A7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Add applicability-domain metrics: distance to positives, motif overlap, length, charge, cysteine count, and acidic residues.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613FE-BF22-4731-AD6E-7E8EE622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2B283-0BD8-41AE-B73E-B9151596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76700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Prioritize new_adc for follow-up; treat the other new peptides as low-support or out-of-domain.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10CF-93A5-4C5E-AC7B-64A89160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7DFFA-6797-4B1A-9A6B-0B407598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Use the overlap audit file when writing methods so removed peptides are traceable.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C4117-EFBE-406B-851A-083D38C5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Proxy peptide integration | 15</a:t>
            </a:r>
          </a:p>
        </p:txBody>
      </p:sp>
    </p:spTree>
    <p:extLst>
      <p:ext uri="{BB962C8B-B14F-4D97-AF65-F5344CB8AC3E}">
        <p14:creationId xmlns:p14="http://schemas.microsoft.com/office/powerpoint/2010/main" val="388092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2026-07-07T15:54:41.0400000Z</dcterms:created>
  <dcterms:modified xsi:type="dcterms:W3CDTF">2026-07-07T15:54:41.0400000Z</dcterms:modified>
</coreProperties>
</file>